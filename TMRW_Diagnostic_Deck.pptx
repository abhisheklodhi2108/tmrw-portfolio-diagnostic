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621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Q4 FY25</c:v>
                  </c:pt>
                  <c:pt idx="1">
                    <c:v>Q3 FY26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1719</c:v>
                </c:pt>
                <c:pt idx="1">
                  <c:v>2374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Q4 FY25</c:v>
                  </c:pt>
                  <c:pt idx="1">
                    <c:v>Q3 FY26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295</c:v>
                </c:pt>
                <c:pt idx="1">
                  <c:v>370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</c:v>
                </c:pt>
              </c:strCache>
            </c:strRef>
          </c:tx>
          <c:spPr>
            <a:solidFill>
              <a:srgbClr val="C9A961"/>
            </a:solidFill>
            <a:ln w="38100" cap="flat">
              <a:solidFill>
                <a:srgbClr val="C9A961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9A961"/>
              </a:solidFill>
              <a:ln w="9525" cap="flat">
                <a:solidFill>
                  <a:srgbClr val="C9A9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Q3 FY25</c:v>
                  </c:pt>
                  <c:pt idx="1">
                    <c:v>9M FY25</c:v>
                  </c:pt>
                  <c:pt idx="2">
                    <c:v>9M FY26</c:v>
                  </c:pt>
                  <c:pt idx="3">
                    <c:v>Q3 FY26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-33</c:v>
                </c:pt>
                <c:pt idx="1">
                  <c:v>-28.9</c:v>
                </c:pt>
                <c:pt idx="2">
                  <c:v>-27.5</c:v>
                </c:pt>
                <c:pt idx="3">
                  <c:v>-23.7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213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-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 Spend</c:v>
                </c:pt>
              </c:strCache>
            </c:strRef>
          </c:tx>
          <c:spPr>
            <a:solidFill>
              <a:srgbClr val="C9A9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FY24</c:v>
                  </c:pt>
                  <c:pt idx="1">
                    <c:v>FY25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621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FY24</c:v>
                  </c:pt>
                  <c:pt idx="1">
                    <c:v>FY25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245.3</c:v>
                </c:pt>
                <c:pt idx="1">
                  <c:v>223.2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B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&quot;₹&quot;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66.78</c:v>
                </c:pt>
                <c:pt idx="1">
                  <c:v>77.93</c:v>
                </c:pt>
                <c:pt idx="2">
                  <c:v>119.38</c:v>
                </c:pt>
              </c:numCache>
            </c:numRef>
          </c:val>
        </c:ser>
        <c:dLbls>
          <c:numFmt formatCode="&quot;₹&quot;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&quot;₹&quot;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FY24</c:v>
                  </c:pt>
                  <c:pt idx="1">
                    <c:v>FY25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101.5</c:v>
                </c:pt>
                <c:pt idx="1">
                  <c:v>204.2</c:v>
                </c:pt>
              </c:numCache>
            </c:numRef>
          </c:val>
        </c:ser>
        <c:dLbls>
          <c:numFmt formatCode="&quot;₹&quot;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640080"/>
            <a:ext cx="256032" cy="25603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640080"/>
            <a:ext cx="256032" cy="256032"/>
          </a:xfrm>
          <a:prstGeom prst="ellipse">
            <a:avLst/>
          </a:prstGeom>
          <a:solidFill>
            <a:srgbClr val="D9922B"/>
          </a:solidFill>
          <a:ln/>
        </p:spPr>
      </p:sp>
      <p:sp>
        <p:nvSpPr>
          <p:cNvPr id="4" name="Shape 2"/>
          <p:cNvSpPr/>
          <p:nvPr/>
        </p:nvSpPr>
        <p:spPr>
          <a:xfrm>
            <a:off x="10469880" y="640080"/>
            <a:ext cx="256032" cy="256032"/>
          </a:xfrm>
          <a:prstGeom prst="ellipse">
            <a:avLst/>
          </a:prstGeom>
          <a:solidFill>
            <a:srgbClr val="C74B4B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640080"/>
            <a:ext cx="256032" cy="256032"/>
          </a:xfrm>
          <a:prstGeom prst="ellipse">
            <a:avLst/>
          </a:prstGeom>
          <a:solidFill>
            <a:srgbClr val="8B93A3"/>
          </a:solidFill>
          <a:ln/>
        </p:spPr>
      </p:sp>
      <p:sp>
        <p:nvSpPr>
          <p:cNvPr id="6" name="Shape 4"/>
          <p:cNvSpPr/>
          <p:nvPr/>
        </p:nvSpPr>
        <p:spPr>
          <a:xfrm>
            <a:off x="11292840" y="640080"/>
            <a:ext cx="256032" cy="256032"/>
          </a:xfrm>
          <a:prstGeom prst="ellipse">
            <a:avLst/>
          </a:prstGeom>
          <a:solidFill>
            <a:srgbClr val="6B7A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CASE STUDY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9456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TMRW Brand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Deserves the Next Rupee?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profitability diagnostic of Aditya Birla's TMRW House of Brands, built on company filings, investor presentations and an AGM speech — not just press coverage.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303520"/>
            <a:ext cx="201168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440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brand-level data + Q3 FY26 trajectory  ·  Sourced from ABFRL/ABLBL filings, SE intimations, Motilal Oswal research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accelerating. So is the scrutiny on losses.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August 2025, TMRW raised ₹437 Cr from ServiceNow Ventures to scale its brand portfolio. FY25 brand-level filings show a genuine spread in performance — some brands scaling profitably, one losing revenue while ad spend rose. The most recent (Q3 FY26) group results add a twist: TMRW's overall margin has since improved sharply. This diagnostic reconciles both.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3630168"/>
            <a:ext cx="24688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+34%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5537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FY26 revenue growth (AGM speech)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35204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3630168"/>
            <a:ext cx="24688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-23.7%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45537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Q3 FY26 EBITDA margin (from -33.0%)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THIS DIAGNOSTIC ANSWERS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864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brands earned FY25's capital — and does TMRW's recent turnaround change who should get the next rupee?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37960" y="1508760"/>
            <a:ext cx="50749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122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ABFRL Consolidated: Revenue vs. EBITDA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1965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Crore — demerged ABFRL, official results</a:t>
            </a:r>
            <a:endParaRPr lang="en-US" sz="9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720840" y="2331720"/>
          <a:ext cx="47091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Portfolio Diagnostic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diagnostic was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92808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brand-level RoC filings (via Inc42/Entrackr) with primary company documents: ABFRL/ABLBL press releases, an SE intimation, an AGM speech and a Q3 FY26 investor presentation.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88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08376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each brand on revenue growth YoY and EBITDA margin where disclosed — and tracked TMRW's group-level quarterly trajectory separately, since it's a different grain of data.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039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123944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brands with disclosed margins on a Growth × Profitability quadrant. Brands without a disclosed margin (Nobero, Urbano) are flagged as "Watch," not force-fit.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919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reconcile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239512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FY25 brand-level analysis twice — SQL and Excel — then checked it against the newer Q3 FY26 group trend before finalizing any recommendation.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FBF3E3"/>
          </a:solidFill>
          <a:ln w="12700">
            <a:solidFill>
              <a:srgbClr val="EAD9A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80644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note: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Nobero's revenue is now company-sourced (Rs133.5cr), replacing an earlier GMV estimate. Neither Nobero nor Urbano discloses an EBITDA margin, so both stay off the 2x2 classification.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Portfolio Diagnostic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brands with a clear classification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67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Indian Garage Co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FY24 → FY25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53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₹101.5 Cr  →  ₹204.2 Cr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+101% YoY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657600"/>
            <a:ext cx="3108960" cy="0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794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(FY25)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05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−6.4%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622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 TREND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7258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→ Loss (+₹5 Cr → −₹23 Cr)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61688" y="150876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0288" y="173736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D992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90288" y="17373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2167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Bewakoof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590288" y="2743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FY24 → FY25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90288" y="2953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₹160.9 Cr  →  ₹173 Cr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 YoY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90288" y="3657600"/>
            <a:ext cx="3108960" cy="0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90288" y="3794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(FY25)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90288" y="4005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−34%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590288" y="44622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 TREND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467258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narrowed 29% (−₹103 → −₹73 Cr)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74736" y="150876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03336" y="173736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C74B4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03336" y="17373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/ HARVEST*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403336" y="2167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Wrogn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403336" y="2743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FY24 → FY25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403336" y="2953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₹245.3 Cr  →  ₹223.2 Cr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403336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−9% YoY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403336" y="3657600"/>
            <a:ext cx="3108960" cy="0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03336" y="3794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(FY25)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403336" y="4005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−27.5%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8403336" y="44622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 TREND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403336" y="467258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widened 32% (−₹57 → −₹76 Cr)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7790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*Wrogn's FY25-specific picture — TMRW's group-level margin has since improved (see slide 6). Nobero &amp; Urbano: see slide 8.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Portfolio Diagnostic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vs. profitability: where each brand sits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39218" y="1691640"/>
            <a:ext cx="6421902" cy="205740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691640"/>
            <a:ext cx="1167618" cy="2057400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6" name="Shape 4"/>
          <p:cNvSpPr/>
          <p:nvPr/>
        </p:nvSpPr>
        <p:spPr>
          <a:xfrm>
            <a:off x="2539218" y="3749040"/>
            <a:ext cx="6421902" cy="2057400"/>
          </a:xfrm>
          <a:prstGeom prst="rect">
            <a:avLst/>
          </a:prstGeom>
          <a:solidFill>
            <a:srgbClr val="FBF1E1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3749040"/>
            <a:ext cx="1167618" cy="2057400"/>
          </a:xfrm>
          <a:prstGeom prst="rect">
            <a:avLst/>
          </a:prstGeom>
          <a:solidFill>
            <a:srgbClr val="F9EAEA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691640"/>
            <a:ext cx="7589520" cy="4114800"/>
          </a:xfrm>
          <a:prstGeom prst="rect">
            <a:avLst/>
          </a:prstGeom>
          <a:ln w="15875">
            <a:solidFill>
              <a:srgbClr val="D7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39218" y="1691640"/>
            <a:ext cx="0" cy="41148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3749040"/>
            <a:ext cx="7589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637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76378" y="38221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22192"/>
            <a:ext cx="9847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" kern="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/ HARVEST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9161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YoY  →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 rot="16200000">
            <a:off x="13716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 →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264898" y="5824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5824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+100%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1664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977966" y="1889516"/>
            <a:ext cx="914400" cy="914400"/>
          </a:xfrm>
          <a:prstGeom prst="ellipse">
            <a:avLst/>
          </a:prstGeom>
          <a:solidFill>
            <a:srgbClr val="2E9E5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886526" y="17797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TIGC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749366" y="28496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+101%  |  −6.4%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43961" y="4754880"/>
            <a:ext cx="868680" cy="868680"/>
          </a:xfrm>
          <a:prstGeom prst="ellipse">
            <a:avLst/>
          </a:prstGeom>
          <a:solidFill>
            <a:srgbClr val="D9922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932581" y="46405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Bewakoof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932581" y="56738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  |  −34%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532854" y="4256532"/>
            <a:ext cx="960120" cy="960120"/>
          </a:xfrm>
          <a:prstGeom prst="ellipse">
            <a:avLst/>
          </a:prstGeom>
          <a:solidFill>
            <a:srgbClr val="C74B4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327114" y="5248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Wrogn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327114" y="5504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−9%  |  −27.5%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72600" y="2103120"/>
            <a:ext cx="109728" cy="10972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01200" y="2011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TIGC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372600" y="229514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growth + best margin. Closest to profitable scale.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72600" y="3273552"/>
            <a:ext cx="109728" cy="109728"/>
          </a:xfrm>
          <a:prstGeom prst="rect">
            <a:avLst/>
          </a:prstGeom>
          <a:solidFill>
            <a:srgbClr val="D9922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01200" y="3182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Bewakoof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372600" y="346557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growth, margin up 2,500 bps YoY through cost control alone.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372600" y="4443984"/>
            <a:ext cx="109728" cy="109728"/>
          </a:xfrm>
          <a:prstGeom prst="rect">
            <a:avLst/>
          </a:prstGeom>
          <a:solidFill>
            <a:srgbClr val="C74B4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01200" y="4352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Wrogn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372600" y="463600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FY25: revenue declining, losses widening. Group-level TMRW has since recovered — see next slide.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Portfolio Diagnostic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TMRW's loss actually peaking?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Group-level trend, official segment reporting — a different grain of data from the brand-level FY25 filings on the previous slides.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0350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EBITDA Margin, Quarterly (%)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560320"/>
          <a:ext cx="53949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315200" y="19659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52360" y="2075688"/>
            <a:ext cx="3840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-33.0% → -23.7%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862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EBITDA margin, Q3 FY25 → Q3 FY26 (~900 bps)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0" y="338328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452360" y="3493008"/>
            <a:ext cx="3840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+29% / +31%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42793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ex-Wrogn, Q3 FY26 / 9M FY26 YoY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0" y="48006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452360" y="4910328"/>
            <a:ext cx="38404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“Losses now peaked”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56509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commentary, Q3 FY26 Investor Presentation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617220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1E2A5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617220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this is TMRW's group-level trend. Wrogn's own FY26 figures are not separately disclosed — see slide 7.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Portfolio Diagnostic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Wrogn: the FY25 evidence, with a live caveat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3931920"/>
          </a:xfrm>
          <a:prstGeom prst="roundRect">
            <a:avLst>
              <a:gd name="adj" fmla="val 1860"/>
            </a:avLst>
          </a:prstGeom>
          <a:solidFill>
            <a:srgbClr val="EEF1F8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vs. Revenue, FY24 → FY25 (₹ Cr)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2057400"/>
          <a:ext cx="56692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315200" y="150876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452360" y="1618488"/>
            <a:ext cx="38404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−0.88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2267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of revenue per incremental Rs of ad spend, FY25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0" y="27432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452360" y="2852928"/>
            <a:ext cx="38404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+900 bps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35021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group margin improvement, Q3FY25→Q3FY26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0" y="397764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BF3E3"/>
          </a:solidFill>
          <a:ln w="19050">
            <a:solidFill>
              <a:srgbClr val="EAD9A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0" y="4114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DON'T KNOW YET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Wrogn's own FY26 revenue and margin aren't separately disclosed. We can't yet confirm whether Wrogn specifically shares in TMRW's group-level recovery.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Portfolio Diagnostic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brands with growing revenue, no disclosed margin yet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8B93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58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Nobero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 (COMPANY-SOURCED)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₹133.5 Cr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57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an earlier GMV-tracker estimate of ~₹500 Cr, which was not comparable to the other brands' audited operating revenue. No prior-year figure or EBITDA margin is disclosed, so Nobero still can't be placed on the 2x2 — but this is now a real, company-sourced number instead of a rough proxy.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513832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8288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8B93A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8288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258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788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REVENUE TREND (₹ CR)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355080" y="3063240"/>
          <a:ext cx="50292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355080" y="50749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+16.7% then +53.2% YoY — growth is accelerating. ABFRL's subsidiary ABDFVL raised its stake from 84.38% to 100% on 17-Sep-2026, making Urbano a wholly-owned subsidiary. No EBITDA margin disclosed yet.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Portfolio Diagnostic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TIGC: growth without runaway losses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434840"/>
          </a:xfrm>
          <a:prstGeom prst="roundRect">
            <a:avLst>
              <a:gd name="adj" fmla="val 1649"/>
            </a:avLst>
          </a:prstGeom>
          <a:solidFill>
            <a:srgbClr val="EEF1F8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FY24 → FY25 (₹ Cr)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0" y="2148840"/>
          <a:ext cx="53035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315200" y="160020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452360" y="1709928"/>
            <a:ext cx="384048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+101%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25420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YoY — the fastest in the portfolio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0" y="306324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452360" y="3172968"/>
            <a:ext cx="384048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−6.4%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4005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margin, FY25 — best in the portfolio by a wide margin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0" y="452628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452360" y="4636008"/>
            <a:ext cx="38404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+₹5 Cr → −₹23 Cr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56509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flipped to a loss for the first time — worth watching, not yet a red flag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Portfolio Diagnostic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scenario, not a directive: Wrogn → TIGC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Wrogn's incremental FY25 ad spend (+₹25 Cr YoY) produced a revenue decline, not a gain — that evidence stands. But TMRW's group margin has since improved ~900 bps, and Wrogn's own FY26 numbers aren't separately disclosed. This models the FY25-based case; treat it as a scenario to revisit once Wrogn-specific FY26 data is available, not a call to execute today.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C74B4B"/>
          </a:solidFill>
          <a:ln/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WROGN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449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 Cr incremental</a:t>
            </a:r>
            <a:endParaRPr lang="en-US" sz="14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spend, frozen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2990088"/>
            <a:ext cx="1005840" cy="411480"/>
          </a:xfrm>
          <a:prstGeom prst="rightArrow">
            <a:avLst/>
          </a:prstGeom>
          <a:solidFill>
            <a:srgbClr val="C9A96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60604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TIGC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0449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Redeployed at TIGC's</a:t>
            </a:r>
            <a:endParaRPr lang="en-US" sz="14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FY25 margin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4315968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₹200 Cr*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1023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TIGC revenue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37560" y="42062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474720" y="4315968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−₹12.7 Cr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51023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TIGC EBITDA impact at current margin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42062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263640" y="4315968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+₹25 Cr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51023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Wrogn loss avoided (spend removed 1:1)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400" y="42062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052560" y="4315968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+₹12.3 Cr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51023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portfolio EBITDA improvement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71500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FBF3E3"/>
          </a:solidFill>
          <a:ln w="12700">
            <a:solidFill>
              <a:srgbClr val="EAD9A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71500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*Assumption, stated explicitly: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TIGC's ad spend isn't separately disclosed. Uses an assumed revenue-per-ad-rupee efficiency consistent with FY25 growth. A directional model, not an audited forecast.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Portfolio Diagnostic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TMRW's next rupee should 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556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55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76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Indian Garage Co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682496"/>
            <a:ext cx="8366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next round of marketing and offline capex — converting growth into margin faster than any other brand.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99923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D992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99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4198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Bewakoof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926080"/>
            <a:ext cx="8366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spend flat, keep tightening opex. FY25's margin gain came from cost discipline, not growth — don't chase growth yet.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41648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4242816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C74B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42428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/ HARVEST*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663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Wrogn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4169664"/>
            <a:ext cx="8366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ad spend pending FY26-specific data. FY25 evidence supports a pullback, but TMRW's group recovery means this call should be revisited, not assumed.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285232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0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54864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8B93A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5486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59070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Nobero &amp; Urbano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063240" y="5413248"/>
            <a:ext cx="8366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now have real, company-sourced revenue and accelerating growth (Urbano). Request margin data before allocating fresh capital to either.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Portfolio Diagnostic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SOURCES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1042416"/>
            <a:ext cx="73152" cy="73152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9601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ABFRL/ABLBL Q4 FY25 Results Press Release — 23 May 2025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408176"/>
            <a:ext cx="73152" cy="73152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3258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Motilal Oswal Institutional Equities report — 23 Sep 2025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73936"/>
            <a:ext cx="73152" cy="73152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6916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ABFRL SE intimation, Imperial/Urbano stake increase — 17 Sep 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39696"/>
            <a:ext cx="73152" cy="73152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057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ABFRL AGM Chairman's Speech — FY26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73152" cy="73152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4231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ABFRL Q3 FY26 Investor Presentation — board meeting 5 Feb 2026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73152" cy="73152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788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Inc42 / Entrackr (RoC filings) — TIGC, Bewakoof, Wrogn brand-level FY24/25 P&amp;L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7315200" cy="0"/>
          </a:xfrm>
          <a:prstGeom prst="line">
            <a:avLst/>
          </a:prstGeom>
          <a:noFill/>
          <a:ln w="12700">
            <a:solidFill>
              <a:srgbClr val="2A34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66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queries, Excel model, and this deck are available in the project repository.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49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Business Analyst opportunities.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TMRW Portfolio Diagnostic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2026-09-21T11:34:49Z</dcterms:created>
  <dcterms:modified xsi:type="dcterms:W3CDTF">2026-09-21T11:34:49Z</dcterms:modified>
</cp:coreProperties>
</file>